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0287000" cy="12852400"/>
  <p:notesSz cx="6858000" cy="9144000"/>
  <p:embeddedFontLst>
    <p:embeddedFont>
      <p:font typeface="Outfit 1 Medium" charset="1" panose="00000000000000000000"/>
      <p:regular r:id="rId30"/>
    </p:embeddedFont>
    <p:embeddedFont>
      <p:font typeface="Outfit 1 Bold" charset="1" panose="00000000000000000000"/>
      <p:regular r:id="rId31"/>
    </p:embeddedFont>
    <p:embeddedFont>
      <p:font typeface="Outfit 1 Semi-Bold" charset="1" panose="00000000000000000000"/>
      <p:regular r:id="rId32"/>
    </p:embeddedFont>
    <p:embeddedFont>
      <p:font typeface="Outfit 1" charset="1" panose="00000000000000000000"/>
      <p:regular r:id="rId33"/>
    </p:embeddedFont>
    <p:embeddedFont>
      <p:font typeface="Outfit 2 Semi-Bold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59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448324"/>
            <a:ext cx="10287000" cy="4706303"/>
          </a:xfrm>
          <a:custGeom>
            <a:avLst/>
            <a:gdLst/>
            <a:ahLst/>
            <a:cxnLst/>
            <a:rect r="r" b="b" t="t" l="l"/>
            <a:pathLst>
              <a:path h="4706303" w="10287000">
                <a:moveTo>
                  <a:pt x="0" y="0"/>
                </a:moveTo>
                <a:lnTo>
                  <a:pt x="10287000" y="0"/>
                </a:lnTo>
                <a:lnTo>
                  <a:pt x="10287000" y="4706302"/>
                </a:lnTo>
                <a:lnTo>
                  <a:pt x="0" y="470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85390" y="10843083"/>
            <a:ext cx="2316220" cy="1433161"/>
          </a:xfrm>
          <a:custGeom>
            <a:avLst/>
            <a:gdLst/>
            <a:ahLst/>
            <a:cxnLst/>
            <a:rect r="r" b="b" t="t" l="l"/>
            <a:pathLst>
              <a:path h="1433161" w="2316220">
                <a:moveTo>
                  <a:pt x="0" y="0"/>
                </a:moveTo>
                <a:lnTo>
                  <a:pt x="2316220" y="0"/>
                </a:lnTo>
                <a:lnTo>
                  <a:pt x="2316220" y="1433161"/>
                </a:lnTo>
                <a:lnTo>
                  <a:pt x="0" y="1433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88075" y="1028700"/>
            <a:ext cx="2710850" cy="2599017"/>
          </a:xfrm>
          <a:custGeom>
            <a:avLst/>
            <a:gdLst/>
            <a:ahLst/>
            <a:cxnLst/>
            <a:rect r="r" b="b" t="t" l="l"/>
            <a:pathLst>
              <a:path h="2599017" w="2710850">
                <a:moveTo>
                  <a:pt x="0" y="0"/>
                </a:moveTo>
                <a:lnTo>
                  <a:pt x="2710850" y="0"/>
                </a:lnTo>
                <a:lnTo>
                  <a:pt x="2710850" y="2599017"/>
                </a:lnTo>
                <a:lnTo>
                  <a:pt x="0" y="2599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80129"/>
            <a:ext cx="8229600" cy="435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9"/>
              </a:lnSpc>
            </a:pPr>
            <a:r>
              <a:rPr lang="en-US" sz="4949" b="true">
                <a:solidFill>
                  <a:srgbClr val="FDE9E3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Syö monipuolisesti ja ravitse aivojasi – suosi kasviksia, marjoja ja hedelmiä, täysjyväviljoja, kalaa ja kasviöljyä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448324"/>
            <a:ext cx="10287000" cy="4706303"/>
          </a:xfrm>
          <a:custGeom>
            <a:avLst/>
            <a:gdLst/>
            <a:ahLst/>
            <a:cxnLst/>
            <a:rect r="r" b="b" t="t" l="l"/>
            <a:pathLst>
              <a:path h="4706303" w="10287000">
                <a:moveTo>
                  <a:pt x="0" y="0"/>
                </a:moveTo>
                <a:lnTo>
                  <a:pt x="10287000" y="0"/>
                </a:lnTo>
                <a:lnTo>
                  <a:pt x="10287000" y="4706302"/>
                </a:lnTo>
                <a:lnTo>
                  <a:pt x="0" y="470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85390" y="10843083"/>
            <a:ext cx="2316220" cy="1433161"/>
          </a:xfrm>
          <a:custGeom>
            <a:avLst/>
            <a:gdLst/>
            <a:ahLst/>
            <a:cxnLst/>
            <a:rect r="r" b="b" t="t" l="l"/>
            <a:pathLst>
              <a:path h="1433161" w="2316220">
                <a:moveTo>
                  <a:pt x="0" y="0"/>
                </a:moveTo>
                <a:lnTo>
                  <a:pt x="2316220" y="0"/>
                </a:lnTo>
                <a:lnTo>
                  <a:pt x="2316220" y="1433161"/>
                </a:lnTo>
                <a:lnTo>
                  <a:pt x="0" y="1433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7395" y="1433038"/>
            <a:ext cx="3412210" cy="1723166"/>
          </a:xfrm>
          <a:custGeom>
            <a:avLst/>
            <a:gdLst/>
            <a:ahLst/>
            <a:cxnLst/>
            <a:rect r="r" b="b" t="t" l="l"/>
            <a:pathLst>
              <a:path h="1723166" w="3412210">
                <a:moveTo>
                  <a:pt x="0" y="0"/>
                </a:moveTo>
                <a:lnTo>
                  <a:pt x="3412210" y="0"/>
                </a:lnTo>
                <a:lnTo>
                  <a:pt x="3412210" y="1723166"/>
                </a:lnTo>
                <a:lnTo>
                  <a:pt x="0" y="17231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80129"/>
            <a:ext cx="8229600" cy="435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9"/>
              </a:lnSpc>
            </a:pPr>
            <a:r>
              <a:rPr lang="en-US" b="true" sz="4949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Syö monipuolisesti ja ravitse aivojasi – suosi kasviksia, marjoja ja hedelmiä, täysjyväviljoja, kalaa ja kasviöljyä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448324"/>
            <a:ext cx="10287000" cy="4706303"/>
          </a:xfrm>
          <a:custGeom>
            <a:avLst/>
            <a:gdLst/>
            <a:ahLst/>
            <a:cxnLst/>
            <a:rect r="r" b="b" t="t" l="l"/>
            <a:pathLst>
              <a:path h="4706303" w="10287000">
                <a:moveTo>
                  <a:pt x="0" y="0"/>
                </a:moveTo>
                <a:lnTo>
                  <a:pt x="10287000" y="0"/>
                </a:lnTo>
                <a:lnTo>
                  <a:pt x="10287000" y="4706302"/>
                </a:lnTo>
                <a:lnTo>
                  <a:pt x="0" y="470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85390" y="10843083"/>
            <a:ext cx="2316220" cy="1433161"/>
          </a:xfrm>
          <a:custGeom>
            <a:avLst/>
            <a:gdLst/>
            <a:ahLst/>
            <a:cxnLst/>
            <a:rect r="r" b="b" t="t" l="l"/>
            <a:pathLst>
              <a:path h="1433161" w="2316220">
                <a:moveTo>
                  <a:pt x="0" y="0"/>
                </a:moveTo>
                <a:lnTo>
                  <a:pt x="2316220" y="0"/>
                </a:lnTo>
                <a:lnTo>
                  <a:pt x="2316220" y="1433161"/>
                </a:lnTo>
                <a:lnTo>
                  <a:pt x="0" y="1433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85390" y="987168"/>
            <a:ext cx="2316220" cy="2311914"/>
          </a:xfrm>
          <a:custGeom>
            <a:avLst/>
            <a:gdLst/>
            <a:ahLst/>
            <a:cxnLst/>
            <a:rect r="r" b="b" t="t" l="l"/>
            <a:pathLst>
              <a:path h="2311914" w="2316220">
                <a:moveTo>
                  <a:pt x="0" y="0"/>
                </a:moveTo>
                <a:lnTo>
                  <a:pt x="2316220" y="0"/>
                </a:lnTo>
                <a:lnTo>
                  <a:pt x="2316220" y="2311914"/>
                </a:lnTo>
                <a:lnTo>
                  <a:pt x="0" y="2311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80129"/>
            <a:ext cx="8229600" cy="435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9"/>
              </a:lnSpc>
            </a:pPr>
            <a:r>
              <a:rPr lang="en-US" b="true" sz="4949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Syö monipuolisesti ja ravitse aivojasi – suosi kasviksia, marjoja ja hedelmiä, täysjyväviljoja, kalaa ja kasviöljyä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448324"/>
            <a:ext cx="10287000" cy="4706303"/>
          </a:xfrm>
          <a:custGeom>
            <a:avLst/>
            <a:gdLst/>
            <a:ahLst/>
            <a:cxnLst/>
            <a:rect r="r" b="b" t="t" l="l"/>
            <a:pathLst>
              <a:path h="4706303" w="10287000">
                <a:moveTo>
                  <a:pt x="0" y="0"/>
                </a:moveTo>
                <a:lnTo>
                  <a:pt x="10287000" y="0"/>
                </a:lnTo>
                <a:lnTo>
                  <a:pt x="10287000" y="4706302"/>
                </a:lnTo>
                <a:lnTo>
                  <a:pt x="0" y="470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85390" y="10843083"/>
            <a:ext cx="2316220" cy="1433161"/>
          </a:xfrm>
          <a:custGeom>
            <a:avLst/>
            <a:gdLst/>
            <a:ahLst/>
            <a:cxnLst/>
            <a:rect r="r" b="b" t="t" l="l"/>
            <a:pathLst>
              <a:path h="1433161" w="2316220">
                <a:moveTo>
                  <a:pt x="0" y="0"/>
                </a:moveTo>
                <a:lnTo>
                  <a:pt x="2316220" y="0"/>
                </a:lnTo>
                <a:lnTo>
                  <a:pt x="2316220" y="1433161"/>
                </a:lnTo>
                <a:lnTo>
                  <a:pt x="0" y="1433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89879"/>
            <a:ext cx="8229600" cy="2598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9"/>
              </a:lnSpc>
            </a:pPr>
            <a:r>
              <a:rPr lang="en-US" sz="494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Aivoverenkiertohäiriöihin sairastuu vuosittain noin </a:t>
            </a:r>
          </a:p>
          <a:p>
            <a:pPr algn="ctr">
              <a:lnSpc>
                <a:spcPts val="6929"/>
              </a:lnSpc>
            </a:pPr>
            <a:r>
              <a:rPr lang="en-US" sz="4949" b="true">
                <a:solidFill>
                  <a:srgbClr val="115945"/>
                </a:solidFill>
                <a:latin typeface="Outfit 1 Bold"/>
                <a:ea typeface="Outfit 1 Bold"/>
                <a:cs typeface="Outfit 1 Bold"/>
                <a:sym typeface="Outfit 1 Bold"/>
              </a:rPr>
              <a:t>25 000</a:t>
            </a:r>
            <a:r>
              <a:rPr lang="en-US" sz="494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 suomalaista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4350" y="2162175"/>
            <a:ext cx="9258300" cy="307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9"/>
              </a:lnSpc>
            </a:pPr>
            <a:r>
              <a:rPr lang="en-US" sz="58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Mikä on </a:t>
            </a:r>
          </a:p>
          <a:p>
            <a:pPr algn="ctr">
              <a:lnSpc>
                <a:spcPts val="8189"/>
              </a:lnSpc>
            </a:pPr>
            <a:r>
              <a:rPr lang="en-US" sz="58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aivoverenkiertohäiriö?</a:t>
            </a:r>
          </a:p>
          <a:p>
            <a:pPr algn="ctr">
              <a:lnSpc>
                <a:spcPts val="8189"/>
              </a:lnSpc>
            </a:pPr>
            <a:r>
              <a:rPr lang="en-US" sz="58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(AVH)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448324"/>
            <a:ext cx="10287000" cy="4706303"/>
          </a:xfrm>
          <a:custGeom>
            <a:avLst/>
            <a:gdLst/>
            <a:ahLst/>
            <a:cxnLst/>
            <a:rect r="r" b="b" t="t" l="l"/>
            <a:pathLst>
              <a:path h="4706303" w="10287000">
                <a:moveTo>
                  <a:pt x="0" y="0"/>
                </a:moveTo>
                <a:lnTo>
                  <a:pt x="10287000" y="0"/>
                </a:lnTo>
                <a:lnTo>
                  <a:pt x="10287000" y="4706302"/>
                </a:lnTo>
                <a:lnTo>
                  <a:pt x="0" y="470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85390" y="10843083"/>
            <a:ext cx="2316220" cy="1433161"/>
          </a:xfrm>
          <a:custGeom>
            <a:avLst/>
            <a:gdLst/>
            <a:ahLst/>
            <a:cxnLst/>
            <a:rect r="r" b="b" t="t" l="l"/>
            <a:pathLst>
              <a:path h="1433161" w="2316220">
                <a:moveTo>
                  <a:pt x="0" y="0"/>
                </a:moveTo>
                <a:lnTo>
                  <a:pt x="2316220" y="0"/>
                </a:lnTo>
                <a:lnTo>
                  <a:pt x="2316220" y="1433161"/>
                </a:lnTo>
                <a:lnTo>
                  <a:pt x="0" y="1433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4350" y="3766947"/>
            <a:ext cx="9258300" cy="2032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9"/>
              </a:lnSpc>
            </a:pPr>
            <a:r>
              <a:rPr lang="en-US" sz="58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Mikä auttoi sinua selviytymään?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448324"/>
            <a:ext cx="10287000" cy="4706303"/>
          </a:xfrm>
          <a:custGeom>
            <a:avLst/>
            <a:gdLst/>
            <a:ahLst/>
            <a:cxnLst/>
            <a:rect r="r" b="b" t="t" l="l"/>
            <a:pathLst>
              <a:path h="4706303" w="10287000">
                <a:moveTo>
                  <a:pt x="0" y="0"/>
                </a:moveTo>
                <a:lnTo>
                  <a:pt x="10287000" y="0"/>
                </a:lnTo>
                <a:lnTo>
                  <a:pt x="10287000" y="4706302"/>
                </a:lnTo>
                <a:lnTo>
                  <a:pt x="0" y="470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85390" y="10843083"/>
            <a:ext cx="2316220" cy="1433161"/>
          </a:xfrm>
          <a:custGeom>
            <a:avLst/>
            <a:gdLst/>
            <a:ahLst/>
            <a:cxnLst/>
            <a:rect r="r" b="b" t="t" l="l"/>
            <a:pathLst>
              <a:path h="1433161" w="2316220">
                <a:moveTo>
                  <a:pt x="0" y="0"/>
                </a:moveTo>
                <a:lnTo>
                  <a:pt x="2316220" y="0"/>
                </a:lnTo>
                <a:lnTo>
                  <a:pt x="2316220" y="1433161"/>
                </a:lnTo>
                <a:lnTo>
                  <a:pt x="0" y="1433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4350" y="1874139"/>
            <a:ext cx="9258300" cy="587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9"/>
              </a:lnSpc>
            </a:pPr>
            <a:r>
              <a:rPr lang="en-US" sz="58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Yli </a:t>
            </a:r>
            <a:r>
              <a:rPr lang="en-US" sz="5849" b="true">
                <a:solidFill>
                  <a:srgbClr val="115945"/>
                </a:solidFill>
                <a:latin typeface="Outfit 1 Bold"/>
                <a:ea typeface="Outfit 1 Bold"/>
                <a:cs typeface="Outfit 1 Bold"/>
                <a:sym typeface="Outfit 1 Bold"/>
              </a:rPr>
              <a:t>100</a:t>
            </a:r>
            <a:r>
              <a:rPr lang="en-US" sz="58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 suomalaista päivässä saa aivovamman tai aivoverenkiertohäiriön.</a:t>
            </a:r>
          </a:p>
          <a:p>
            <a:pPr algn="ctr">
              <a:lnSpc>
                <a:spcPts val="8189"/>
              </a:lnSpc>
            </a:pPr>
          </a:p>
          <a:p>
            <a:pPr algn="ctr">
              <a:lnSpc>
                <a:spcPts val="6930"/>
              </a:lnSpc>
            </a:pPr>
            <a:r>
              <a:rPr lang="en-US" sz="4950" b="true">
                <a:solidFill>
                  <a:srgbClr val="115945"/>
                </a:solidFill>
                <a:latin typeface="Outfit 1 Bold"/>
                <a:ea typeface="Outfit 1 Bold"/>
                <a:cs typeface="Outfit 1 Bold"/>
                <a:sym typeface="Outfit 1 Bold"/>
              </a:rPr>
              <a:t>Yksikään heistä ei saisi jäädä yksin.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448324"/>
            <a:ext cx="10287000" cy="4706303"/>
          </a:xfrm>
          <a:custGeom>
            <a:avLst/>
            <a:gdLst/>
            <a:ahLst/>
            <a:cxnLst/>
            <a:rect r="r" b="b" t="t" l="l"/>
            <a:pathLst>
              <a:path h="4706303" w="10287000">
                <a:moveTo>
                  <a:pt x="0" y="0"/>
                </a:moveTo>
                <a:lnTo>
                  <a:pt x="10287000" y="0"/>
                </a:lnTo>
                <a:lnTo>
                  <a:pt x="10287000" y="4706302"/>
                </a:lnTo>
                <a:lnTo>
                  <a:pt x="0" y="470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85390" y="10843083"/>
            <a:ext cx="2316220" cy="1433161"/>
          </a:xfrm>
          <a:custGeom>
            <a:avLst/>
            <a:gdLst/>
            <a:ahLst/>
            <a:cxnLst/>
            <a:rect r="r" b="b" t="t" l="l"/>
            <a:pathLst>
              <a:path h="1433161" w="2316220">
                <a:moveTo>
                  <a:pt x="0" y="0"/>
                </a:moveTo>
                <a:lnTo>
                  <a:pt x="2316220" y="0"/>
                </a:lnTo>
                <a:lnTo>
                  <a:pt x="2316220" y="1433161"/>
                </a:lnTo>
                <a:lnTo>
                  <a:pt x="0" y="1433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4350" y="1874139"/>
            <a:ext cx="9258300" cy="587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9"/>
              </a:lnSpc>
            </a:pPr>
            <a:r>
              <a:rPr lang="en-US" sz="58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Yli </a:t>
            </a:r>
            <a:r>
              <a:rPr lang="en-US" sz="5849" b="true">
                <a:solidFill>
                  <a:srgbClr val="115945"/>
                </a:solidFill>
                <a:latin typeface="Outfit 1 Bold"/>
                <a:ea typeface="Outfit 1 Bold"/>
                <a:cs typeface="Outfit 1 Bold"/>
                <a:sym typeface="Outfit 1 Bold"/>
              </a:rPr>
              <a:t>100</a:t>
            </a:r>
            <a:r>
              <a:rPr lang="en-US" sz="58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 suomalaista päivässä saa aivovamman tai aivoverenkiertohäiriön.</a:t>
            </a:r>
          </a:p>
          <a:p>
            <a:pPr algn="ctr">
              <a:lnSpc>
                <a:spcPts val="8189"/>
              </a:lnSpc>
            </a:pPr>
          </a:p>
          <a:p>
            <a:pPr algn="ctr">
              <a:lnSpc>
                <a:spcPts val="6930"/>
              </a:lnSpc>
            </a:pPr>
            <a:r>
              <a:rPr lang="en-US" sz="4950" b="true">
                <a:solidFill>
                  <a:srgbClr val="115945"/>
                </a:solidFill>
                <a:latin typeface="Outfit 1 Bold"/>
                <a:ea typeface="Outfit 1 Bold"/>
                <a:cs typeface="Outfit 1 Bold"/>
                <a:sym typeface="Outfit 1 Bold"/>
              </a:rPr>
              <a:t>Yksikään heistä ei saisi jäädä yksin.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2250" y="-5838740"/>
            <a:ext cx="11451500" cy="17155805"/>
          </a:xfrm>
          <a:custGeom>
            <a:avLst/>
            <a:gdLst/>
            <a:ahLst/>
            <a:cxnLst/>
            <a:rect r="r" b="b" t="t" l="l"/>
            <a:pathLst>
              <a:path h="17155805" w="11451500">
                <a:moveTo>
                  <a:pt x="0" y="0"/>
                </a:moveTo>
                <a:lnTo>
                  <a:pt x="11451500" y="0"/>
                </a:lnTo>
                <a:lnTo>
                  <a:pt x="11451500" y="17155805"/>
                </a:lnTo>
                <a:lnTo>
                  <a:pt x="0" y="17155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8324"/>
            <a:ext cx="10287000" cy="4706303"/>
          </a:xfrm>
          <a:custGeom>
            <a:avLst/>
            <a:gdLst/>
            <a:ahLst/>
            <a:cxnLst/>
            <a:rect r="r" b="b" t="t" l="l"/>
            <a:pathLst>
              <a:path h="4706303" w="10287000">
                <a:moveTo>
                  <a:pt x="0" y="0"/>
                </a:moveTo>
                <a:lnTo>
                  <a:pt x="10287000" y="0"/>
                </a:lnTo>
                <a:lnTo>
                  <a:pt x="10287000" y="4706302"/>
                </a:lnTo>
                <a:lnTo>
                  <a:pt x="0" y="4706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85390" y="10843083"/>
            <a:ext cx="2316220" cy="1433161"/>
          </a:xfrm>
          <a:custGeom>
            <a:avLst/>
            <a:gdLst/>
            <a:ahLst/>
            <a:cxnLst/>
            <a:rect r="r" b="b" t="t" l="l"/>
            <a:pathLst>
              <a:path h="1433161" w="2316220">
                <a:moveTo>
                  <a:pt x="0" y="0"/>
                </a:moveTo>
                <a:lnTo>
                  <a:pt x="2316220" y="0"/>
                </a:lnTo>
                <a:lnTo>
                  <a:pt x="2316220" y="1433161"/>
                </a:lnTo>
                <a:lnTo>
                  <a:pt x="0" y="14331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204232"/>
            <a:ext cx="8229600" cy="10450286"/>
          </a:xfrm>
          <a:custGeom>
            <a:avLst/>
            <a:gdLst/>
            <a:ahLst/>
            <a:cxnLst/>
            <a:rect r="r" b="b" t="t" l="l"/>
            <a:pathLst>
              <a:path h="10450286" w="8229600">
                <a:moveTo>
                  <a:pt x="0" y="0"/>
                </a:moveTo>
                <a:lnTo>
                  <a:pt x="8229600" y="0"/>
                </a:lnTo>
                <a:lnTo>
                  <a:pt x="82296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91907" y="9816474"/>
            <a:ext cx="1998063" cy="1236302"/>
          </a:xfrm>
          <a:custGeom>
            <a:avLst/>
            <a:gdLst/>
            <a:ahLst/>
            <a:cxnLst/>
            <a:rect r="r" b="b" t="t" l="l"/>
            <a:pathLst>
              <a:path h="1236302" w="1998063">
                <a:moveTo>
                  <a:pt x="0" y="0"/>
                </a:moveTo>
                <a:lnTo>
                  <a:pt x="1998063" y="0"/>
                </a:lnTo>
                <a:lnTo>
                  <a:pt x="1998063" y="1236301"/>
                </a:lnTo>
                <a:lnTo>
                  <a:pt x="0" y="1236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36637" y="1800374"/>
            <a:ext cx="2073729" cy="1988179"/>
          </a:xfrm>
          <a:custGeom>
            <a:avLst/>
            <a:gdLst/>
            <a:ahLst/>
            <a:cxnLst/>
            <a:rect r="r" b="b" t="t" l="l"/>
            <a:pathLst>
              <a:path h="1988179" w="2073729">
                <a:moveTo>
                  <a:pt x="0" y="0"/>
                </a:moveTo>
                <a:lnTo>
                  <a:pt x="2073729" y="0"/>
                </a:lnTo>
                <a:lnTo>
                  <a:pt x="2073729" y="1988178"/>
                </a:lnTo>
                <a:lnTo>
                  <a:pt x="0" y="19881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68654" y="6909498"/>
            <a:ext cx="8229600" cy="222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9"/>
              </a:lnSpc>
            </a:pPr>
            <a:r>
              <a:rPr lang="en-US" sz="424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Aivoverenkiertohäiriöihin sairastuu vuosittain noin </a:t>
            </a:r>
          </a:p>
          <a:p>
            <a:pPr algn="l">
              <a:lnSpc>
                <a:spcPts val="5949"/>
              </a:lnSpc>
            </a:pPr>
            <a:r>
              <a:rPr lang="en-US" sz="4249" b="true">
                <a:solidFill>
                  <a:srgbClr val="115945"/>
                </a:solidFill>
                <a:latin typeface="Outfit 1 Bold"/>
                <a:ea typeface="Outfit 1 Bold"/>
                <a:cs typeface="Outfit 1 Bold"/>
                <a:sym typeface="Outfit 1 Bold"/>
              </a:rPr>
              <a:t>25 000</a:t>
            </a:r>
            <a:r>
              <a:rPr lang="en-US" sz="424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 suomalaista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8654" y="4116069"/>
            <a:ext cx="6302908" cy="237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Mikä on </a:t>
            </a:r>
          </a:p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aivoverenkiertohäiriö?</a:t>
            </a:r>
          </a:p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(AVH)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59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204232"/>
            <a:ext cx="8229600" cy="10450286"/>
          </a:xfrm>
          <a:custGeom>
            <a:avLst/>
            <a:gdLst/>
            <a:ahLst/>
            <a:cxnLst/>
            <a:rect r="r" b="b" t="t" l="l"/>
            <a:pathLst>
              <a:path h="10450286" w="8229600">
                <a:moveTo>
                  <a:pt x="0" y="0"/>
                </a:moveTo>
                <a:lnTo>
                  <a:pt x="8229600" y="0"/>
                </a:lnTo>
                <a:lnTo>
                  <a:pt x="82296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91907" y="9816474"/>
            <a:ext cx="1998063" cy="1236302"/>
          </a:xfrm>
          <a:custGeom>
            <a:avLst/>
            <a:gdLst/>
            <a:ahLst/>
            <a:cxnLst/>
            <a:rect r="r" b="b" t="t" l="l"/>
            <a:pathLst>
              <a:path h="1236302" w="1998063">
                <a:moveTo>
                  <a:pt x="0" y="0"/>
                </a:moveTo>
                <a:lnTo>
                  <a:pt x="1998063" y="0"/>
                </a:lnTo>
                <a:lnTo>
                  <a:pt x="1998063" y="1236301"/>
                </a:lnTo>
                <a:lnTo>
                  <a:pt x="0" y="1236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68654" y="6909498"/>
            <a:ext cx="8229600" cy="222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9"/>
              </a:lnSpc>
            </a:pPr>
            <a:r>
              <a:rPr lang="en-US" sz="424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Aivoverenkiertohäiriöihin sairastuu vuosittain noin </a:t>
            </a:r>
          </a:p>
          <a:p>
            <a:pPr algn="l">
              <a:lnSpc>
                <a:spcPts val="5949"/>
              </a:lnSpc>
            </a:pPr>
            <a:r>
              <a:rPr lang="en-US" sz="4249" b="true">
                <a:solidFill>
                  <a:srgbClr val="115945"/>
                </a:solidFill>
                <a:latin typeface="Outfit 1 Bold"/>
                <a:ea typeface="Outfit 1 Bold"/>
                <a:cs typeface="Outfit 1 Bold"/>
                <a:sym typeface="Outfit 1 Bold"/>
              </a:rPr>
              <a:t>25 000</a:t>
            </a:r>
            <a:r>
              <a:rPr lang="en-US" sz="424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 suomalaista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8654" y="4116069"/>
            <a:ext cx="6302908" cy="237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Mikä on </a:t>
            </a:r>
          </a:p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aivoverenkiertohäiriö?</a:t>
            </a:r>
          </a:p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(AVH)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868654" y="2048283"/>
            <a:ext cx="3412210" cy="1723166"/>
          </a:xfrm>
          <a:custGeom>
            <a:avLst/>
            <a:gdLst/>
            <a:ahLst/>
            <a:cxnLst/>
            <a:rect r="r" b="b" t="t" l="l"/>
            <a:pathLst>
              <a:path h="1723166" w="3412210">
                <a:moveTo>
                  <a:pt x="0" y="0"/>
                </a:moveTo>
                <a:lnTo>
                  <a:pt x="3412210" y="0"/>
                </a:lnTo>
                <a:lnTo>
                  <a:pt x="3412210" y="1723166"/>
                </a:lnTo>
                <a:lnTo>
                  <a:pt x="0" y="17231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204232"/>
            <a:ext cx="8229600" cy="10450286"/>
          </a:xfrm>
          <a:custGeom>
            <a:avLst/>
            <a:gdLst/>
            <a:ahLst/>
            <a:cxnLst/>
            <a:rect r="r" b="b" t="t" l="l"/>
            <a:pathLst>
              <a:path h="10450286" w="8229600">
                <a:moveTo>
                  <a:pt x="0" y="0"/>
                </a:moveTo>
                <a:lnTo>
                  <a:pt x="8229600" y="0"/>
                </a:lnTo>
                <a:lnTo>
                  <a:pt x="82296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91907" y="9816474"/>
            <a:ext cx="1998063" cy="1236302"/>
          </a:xfrm>
          <a:custGeom>
            <a:avLst/>
            <a:gdLst/>
            <a:ahLst/>
            <a:cxnLst/>
            <a:rect r="r" b="b" t="t" l="l"/>
            <a:pathLst>
              <a:path h="1236302" w="1998063">
                <a:moveTo>
                  <a:pt x="0" y="0"/>
                </a:moveTo>
                <a:lnTo>
                  <a:pt x="1998063" y="0"/>
                </a:lnTo>
                <a:lnTo>
                  <a:pt x="1998063" y="1236301"/>
                </a:lnTo>
                <a:lnTo>
                  <a:pt x="0" y="1236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68654" y="5156898"/>
            <a:ext cx="8229600" cy="222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9"/>
              </a:lnSpc>
            </a:pPr>
            <a:r>
              <a:rPr lang="en-US" sz="424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Aivoverenkiertohäiriöihin sairastuu vuosittain noin </a:t>
            </a:r>
          </a:p>
          <a:p>
            <a:pPr algn="l">
              <a:lnSpc>
                <a:spcPts val="5949"/>
              </a:lnSpc>
            </a:pPr>
            <a:r>
              <a:rPr lang="en-US" sz="4249" b="true">
                <a:solidFill>
                  <a:srgbClr val="115945"/>
                </a:solidFill>
                <a:latin typeface="Outfit 1 Bold"/>
                <a:ea typeface="Outfit 1 Bold"/>
                <a:cs typeface="Outfit 1 Bold"/>
                <a:sym typeface="Outfit 1 Bold"/>
              </a:rPr>
              <a:t>25 000</a:t>
            </a:r>
            <a:r>
              <a:rPr lang="en-US" sz="424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 suomalaista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8654" y="2291142"/>
            <a:ext cx="6302908" cy="237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Mikä on </a:t>
            </a:r>
          </a:p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aivoverenkiertohäiriö?</a:t>
            </a:r>
          </a:p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(AVH)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000" r="0" b="-1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204232"/>
            <a:ext cx="8229600" cy="10450286"/>
          </a:xfrm>
          <a:custGeom>
            <a:avLst/>
            <a:gdLst/>
            <a:ahLst/>
            <a:cxnLst/>
            <a:rect r="r" b="b" t="t" l="l"/>
            <a:pathLst>
              <a:path h="10450286" w="8229600">
                <a:moveTo>
                  <a:pt x="0" y="0"/>
                </a:moveTo>
                <a:lnTo>
                  <a:pt x="8229600" y="0"/>
                </a:lnTo>
                <a:lnTo>
                  <a:pt x="82296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91907" y="9816474"/>
            <a:ext cx="1998063" cy="1236302"/>
          </a:xfrm>
          <a:custGeom>
            <a:avLst/>
            <a:gdLst/>
            <a:ahLst/>
            <a:cxnLst/>
            <a:rect r="r" b="b" t="t" l="l"/>
            <a:pathLst>
              <a:path h="1236302" w="1998063">
                <a:moveTo>
                  <a:pt x="0" y="0"/>
                </a:moveTo>
                <a:lnTo>
                  <a:pt x="1998063" y="0"/>
                </a:lnTo>
                <a:lnTo>
                  <a:pt x="1998063" y="1236301"/>
                </a:lnTo>
                <a:lnTo>
                  <a:pt x="0" y="1236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3756" y="5867351"/>
            <a:ext cx="8229600" cy="222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9"/>
              </a:lnSpc>
            </a:pPr>
            <a:r>
              <a:rPr lang="en-US" sz="424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Aivoverenkiertohäiriöihin sairastuu vuosittain noin </a:t>
            </a:r>
          </a:p>
          <a:p>
            <a:pPr algn="l">
              <a:lnSpc>
                <a:spcPts val="5949"/>
              </a:lnSpc>
            </a:pPr>
            <a:r>
              <a:rPr lang="en-US" sz="4249" b="true">
                <a:solidFill>
                  <a:srgbClr val="115945"/>
                </a:solidFill>
                <a:latin typeface="Outfit 1 Bold"/>
                <a:ea typeface="Outfit 1 Bold"/>
                <a:cs typeface="Outfit 1 Bold"/>
                <a:sym typeface="Outfit 1 Bold"/>
              </a:rPr>
              <a:t>25 000</a:t>
            </a:r>
            <a:r>
              <a:rPr lang="en-US" sz="424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 suomalaista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3756" y="3073922"/>
            <a:ext cx="6302908" cy="237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Mikä on </a:t>
            </a:r>
          </a:p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aivoverenkiertohäiriö?</a:t>
            </a:r>
          </a:p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(AVH)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3125" y="8278015"/>
            <a:ext cx="10794244" cy="5160671"/>
          </a:xfrm>
          <a:custGeom>
            <a:avLst/>
            <a:gdLst/>
            <a:ahLst/>
            <a:cxnLst/>
            <a:rect r="r" b="b" t="t" l="l"/>
            <a:pathLst>
              <a:path h="5160671" w="10794244">
                <a:moveTo>
                  <a:pt x="0" y="0"/>
                </a:moveTo>
                <a:lnTo>
                  <a:pt x="10794244" y="0"/>
                </a:lnTo>
                <a:lnTo>
                  <a:pt x="10794244" y="5160672"/>
                </a:lnTo>
                <a:lnTo>
                  <a:pt x="0" y="516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3453" r="0" b="-957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5271" y="873251"/>
            <a:ext cx="12285032" cy="7532735"/>
          </a:xfrm>
          <a:custGeom>
            <a:avLst/>
            <a:gdLst/>
            <a:ahLst/>
            <a:cxnLst/>
            <a:rect r="r" b="b" t="t" l="l"/>
            <a:pathLst>
              <a:path h="7532735" w="12285032">
                <a:moveTo>
                  <a:pt x="0" y="0"/>
                </a:moveTo>
                <a:lnTo>
                  <a:pt x="12285032" y="0"/>
                </a:lnTo>
                <a:lnTo>
                  <a:pt x="12285032" y="7532735"/>
                </a:lnTo>
                <a:lnTo>
                  <a:pt x="0" y="753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695" t="-22681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1838" y="9694943"/>
            <a:ext cx="9215181" cy="249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Kurssilla jaetaan kokemuksia, vaihdetaan arjen vinkkejä ja vahvistetaan omia </a:t>
            </a:r>
          </a:p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voimavaroja yhdessä samassa tilanteessa olevien kanssa.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1838" y="8730314"/>
            <a:ext cx="6302908" cy="77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Vertaistuesta voimaa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93759" y="-2573903"/>
            <a:ext cx="12425758" cy="13073813"/>
          </a:xfrm>
          <a:custGeom>
            <a:avLst/>
            <a:gdLst/>
            <a:ahLst/>
            <a:cxnLst/>
            <a:rect r="r" b="b" t="t" l="l"/>
            <a:pathLst>
              <a:path h="13073813" w="12425758">
                <a:moveTo>
                  <a:pt x="0" y="0"/>
                </a:moveTo>
                <a:lnTo>
                  <a:pt x="12425758" y="0"/>
                </a:lnTo>
                <a:lnTo>
                  <a:pt x="12425758" y="13073812"/>
                </a:lnTo>
                <a:lnTo>
                  <a:pt x="0" y="13073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762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382590" y="4992300"/>
            <a:ext cx="5521820" cy="10592081"/>
          </a:xfrm>
          <a:custGeom>
            <a:avLst/>
            <a:gdLst/>
            <a:ahLst/>
            <a:cxnLst/>
            <a:rect r="r" b="b" t="t" l="l"/>
            <a:pathLst>
              <a:path h="10592081" w="5521820">
                <a:moveTo>
                  <a:pt x="0" y="0"/>
                </a:moveTo>
                <a:lnTo>
                  <a:pt x="5521820" y="0"/>
                </a:lnTo>
                <a:lnTo>
                  <a:pt x="5521820" y="10592080"/>
                </a:lnTo>
                <a:lnTo>
                  <a:pt x="0" y="10592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97" r="0" b="-197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8013" y="10297344"/>
            <a:ext cx="9449168" cy="186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Kurssilla jaetaan kokemuksia, vaihdetaan arjen vinkkejä ja vahvistetaan omia voimavaroja yhdessä samassa tilanteessa olevien kanssa.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8013" y="9481403"/>
            <a:ext cx="6959962" cy="64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5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Vertaistuesta voimaa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8013" y="10870123"/>
            <a:ext cx="2621383" cy="1325273"/>
          </a:xfrm>
          <a:custGeom>
            <a:avLst/>
            <a:gdLst/>
            <a:ahLst/>
            <a:cxnLst/>
            <a:rect r="r" b="b" t="t" l="l"/>
            <a:pathLst>
              <a:path h="1325273" w="2621383">
                <a:moveTo>
                  <a:pt x="0" y="0"/>
                </a:moveTo>
                <a:lnTo>
                  <a:pt x="2621383" y="0"/>
                </a:lnTo>
                <a:lnTo>
                  <a:pt x="2621383" y="1325273"/>
                </a:lnTo>
                <a:lnTo>
                  <a:pt x="0" y="13252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82250" y="-1539035"/>
            <a:ext cx="11451500" cy="17155805"/>
          </a:xfrm>
          <a:custGeom>
            <a:avLst/>
            <a:gdLst/>
            <a:ahLst/>
            <a:cxnLst/>
            <a:rect r="r" b="b" t="t" l="l"/>
            <a:pathLst>
              <a:path h="17155805" w="11451500">
                <a:moveTo>
                  <a:pt x="0" y="0"/>
                </a:moveTo>
                <a:lnTo>
                  <a:pt x="11451500" y="0"/>
                </a:lnTo>
                <a:lnTo>
                  <a:pt x="11451500" y="17155805"/>
                </a:lnTo>
                <a:lnTo>
                  <a:pt x="0" y="17155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8674">
            <a:off x="2382590" y="-3103796"/>
            <a:ext cx="5521820" cy="10592081"/>
          </a:xfrm>
          <a:custGeom>
            <a:avLst/>
            <a:gdLst/>
            <a:ahLst/>
            <a:cxnLst/>
            <a:rect r="r" b="b" t="t" l="l"/>
            <a:pathLst>
              <a:path h="10592081" w="5521820">
                <a:moveTo>
                  <a:pt x="0" y="10592080"/>
                </a:moveTo>
                <a:lnTo>
                  <a:pt x="5521820" y="10592080"/>
                </a:lnTo>
                <a:lnTo>
                  <a:pt x="5521820" y="0"/>
                </a:lnTo>
                <a:lnTo>
                  <a:pt x="0" y="0"/>
                </a:lnTo>
                <a:lnTo>
                  <a:pt x="0" y="10592080"/>
                </a:lnTo>
                <a:close/>
              </a:path>
            </a:pathLst>
          </a:custGeom>
          <a:blipFill>
            <a:blip r:embed="rId4"/>
            <a:stretch>
              <a:fillRect l="0" t="-497" r="0" b="-197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8013" y="1062054"/>
            <a:ext cx="9858987" cy="249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Kurssilla jaetaan kokemuksia, vaihdetaan arjen vinkkejä ja vahvistetaan omia voimavaroja yhdessä samassa tilanteessa </a:t>
            </a:r>
          </a:p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olevien kanssa.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8013" y="293909"/>
            <a:ext cx="8391401" cy="64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5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Vertaistuesta voimaa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08002" y="0"/>
            <a:ext cx="19193197" cy="12811459"/>
          </a:xfrm>
          <a:custGeom>
            <a:avLst/>
            <a:gdLst/>
            <a:ahLst/>
            <a:cxnLst/>
            <a:rect r="r" b="b" t="t" l="l"/>
            <a:pathLst>
              <a:path h="12811459" w="19193197">
                <a:moveTo>
                  <a:pt x="0" y="0"/>
                </a:moveTo>
                <a:lnTo>
                  <a:pt x="19193197" y="0"/>
                </a:lnTo>
                <a:lnTo>
                  <a:pt x="19193197" y="12811459"/>
                </a:lnTo>
                <a:lnTo>
                  <a:pt x="0" y="12811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0987" y="0"/>
            <a:ext cx="6678817" cy="12811459"/>
          </a:xfrm>
          <a:custGeom>
            <a:avLst/>
            <a:gdLst/>
            <a:ahLst/>
            <a:cxnLst/>
            <a:rect r="r" b="b" t="t" l="l"/>
            <a:pathLst>
              <a:path h="12811459" w="6678817">
                <a:moveTo>
                  <a:pt x="0" y="0"/>
                </a:moveTo>
                <a:lnTo>
                  <a:pt x="6678817" y="0"/>
                </a:lnTo>
                <a:lnTo>
                  <a:pt x="6678817" y="12811459"/>
                </a:lnTo>
                <a:lnTo>
                  <a:pt x="0" y="12811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97" r="0" b="-197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8013" y="1976454"/>
            <a:ext cx="4591662" cy="5005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Kurssilla jaetaan kokemuksia, vaihdetaan arjen vinkkejä ja vahvistetaan omia </a:t>
            </a:r>
          </a:p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voimavaroja yhdessä samassa tilanteessa olevien kanssa.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8013" y="446309"/>
            <a:ext cx="4965334" cy="128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5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Vertaistuesta voimaa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5411236"/>
          </a:xfrm>
          <a:custGeom>
            <a:avLst/>
            <a:gdLst/>
            <a:ahLst/>
            <a:cxnLst/>
            <a:rect r="r" b="b" t="t" l="l"/>
            <a:pathLst>
              <a:path h="15411236" w="10287000">
                <a:moveTo>
                  <a:pt x="0" y="0"/>
                </a:moveTo>
                <a:lnTo>
                  <a:pt x="10287000" y="0"/>
                </a:lnTo>
                <a:lnTo>
                  <a:pt x="10287000" y="15411236"/>
                </a:lnTo>
                <a:lnTo>
                  <a:pt x="0" y="1541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8674">
            <a:off x="2382590" y="-3103796"/>
            <a:ext cx="5521820" cy="10592081"/>
          </a:xfrm>
          <a:custGeom>
            <a:avLst/>
            <a:gdLst/>
            <a:ahLst/>
            <a:cxnLst/>
            <a:rect r="r" b="b" t="t" l="l"/>
            <a:pathLst>
              <a:path h="10592081" w="5521820">
                <a:moveTo>
                  <a:pt x="0" y="10592080"/>
                </a:moveTo>
                <a:lnTo>
                  <a:pt x="5521820" y="10592080"/>
                </a:lnTo>
                <a:lnTo>
                  <a:pt x="5521820" y="0"/>
                </a:lnTo>
                <a:lnTo>
                  <a:pt x="0" y="0"/>
                </a:lnTo>
                <a:lnTo>
                  <a:pt x="0" y="10592080"/>
                </a:lnTo>
                <a:close/>
              </a:path>
            </a:pathLst>
          </a:custGeom>
          <a:blipFill>
            <a:blip r:embed="rId3">
              <a:alphaModFix amt="90000"/>
            </a:blip>
            <a:stretch>
              <a:fillRect l="0" t="-497" r="0" b="-197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8013" y="1062054"/>
            <a:ext cx="9858987" cy="249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Kurssilla jaetaan kokemuksia, vaihdetaan arjen vinkkejä ja vahvistetaan omia voimavaroja yhdessä samassa tilanteessa </a:t>
            </a:r>
          </a:p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115945"/>
                </a:solidFill>
                <a:latin typeface="Outfit 1"/>
                <a:ea typeface="Outfit 1"/>
                <a:cs typeface="Outfit 1"/>
                <a:sym typeface="Outfit 1"/>
              </a:rPr>
              <a:t>olevien kanssa.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8013" y="293909"/>
            <a:ext cx="8391401" cy="64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5"/>
              </a:lnSpc>
            </a:pPr>
            <a:r>
              <a:rPr lang="en-US" sz="454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Vertaistuesta voimaa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4344" y="-410155"/>
            <a:ext cx="9578311" cy="15294709"/>
          </a:xfrm>
          <a:custGeom>
            <a:avLst/>
            <a:gdLst/>
            <a:ahLst/>
            <a:cxnLst/>
            <a:rect r="r" b="b" t="t" l="l"/>
            <a:pathLst>
              <a:path h="15294709" w="9578311">
                <a:moveTo>
                  <a:pt x="0" y="0"/>
                </a:moveTo>
                <a:lnTo>
                  <a:pt x="9578312" y="0"/>
                </a:lnTo>
                <a:lnTo>
                  <a:pt x="9578312" y="15294709"/>
                </a:lnTo>
                <a:lnTo>
                  <a:pt x="0" y="15294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227" y="2864515"/>
            <a:ext cx="619502" cy="573873"/>
          </a:xfrm>
          <a:custGeom>
            <a:avLst/>
            <a:gdLst/>
            <a:ahLst/>
            <a:cxnLst/>
            <a:rect r="r" b="b" t="t" l="l"/>
            <a:pathLst>
              <a:path h="573873" w="619502">
                <a:moveTo>
                  <a:pt x="0" y="0"/>
                </a:moveTo>
                <a:lnTo>
                  <a:pt x="619502" y="0"/>
                </a:lnTo>
                <a:lnTo>
                  <a:pt x="619502" y="573873"/>
                </a:lnTo>
                <a:lnTo>
                  <a:pt x="0" y="573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18340"/>
            <a:ext cx="7025170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15945"/>
                </a:solidFill>
                <a:latin typeface="Outfit 1 Semi-Bold"/>
                <a:ea typeface="Outfit 1 Semi-Bold"/>
                <a:cs typeface="Outfit 1 Semi-Bold"/>
                <a:sym typeface="Outfit 1 Semi-Bold"/>
              </a:rPr>
              <a:t>Kaatumistapaturmien ehkäisyn tarkistuslista kotona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09372" y="2416990"/>
            <a:ext cx="8229600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Lattioilla ei ole kompastumisvaaraa aiheuttavia tavaroita tai johtoja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14227" y="4143087"/>
            <a:ext cx="619502" cy="573873"/>
          </a:xfrm>
          <a:custGeom>
            <a:avLst/>
            <a:gdLst/>
            <a:ahLst/>
            <a:cxnLst/>
            <a:rect r="r" b="b" t="t" l="l"/>
            <a:pathLst>
              <a:path h="573873" w="619502">
                <a:moveTo>
                  <a:pt x="0" y="0"/>
                </a:moveTo>
                <a:lnTo>
                  <a:pt x="619502" y="0"/>
                </a:lnTo>
                <a:lnTo>
                  <a:pt x="619502" y="573874"/>
                </a:lnTo>
                <a:lnTo>
                  <a:pt x="0" y="573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227" y="5169818"/>
            <a:ext cx="619502" cy="573873"/>
          </a:xfrm>
          <a:custGeom>
            <a:avLst/>
            <a:gdLst/>
            <a:ahLst/>
            <a:cxnLst/>
            <a:rect r="r" b="b" t="t" l="l"/>
            <a:pathLst>
              <a:path h="573873" w="619502">
                <a:moveTo>
                  <a:pt x="0" y="0"/>
                </a:moveTo>
                <a:lnTo>
                  <a:pt x="619502" y="0"/>
                </a:lnTo>
                <a:lnTo>
                  <a:pt x="619502" y="573874"/>
                </a:lnTo>
                <a:lnTo>
                  <a:pt x="0" y="573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227" y="6210266"/>
            <a:ext cx="619502" cy="573873"/>
          </a:xfrm>
          <a:custGeom>
            <a:avLst/>
            <a:gdLst/>
            <a:ahLst/>
            <a:cxnLst/>
            <a:rect r="r" b="b" t="t" l="l"/>
            <a:pathLst>
              <a:path h="573873" w="619502">
                <a:moveTo>
                  <a:pt x="0" y="0"/>
                </a:moveTo>
                <a:lnTo>
                  <a:pt x="619502" y="0"/>
                </a:lnTo>
                <a:lnTo>
                  <a:pt x="619502" y="573873"/>
                </a:lnTo>
                <a:lnTo>
                  <a:pt x="0" y="573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227" y="8857264"/>
            <a:ext cx="619502" cy="573873"/>
          </a:xfrm>
          <a:custGeom>
            <a:avLst/>
            <a:gdLst/>
            <a:ahLst/>
            <a:cxnLst/>
            <a:rect r="r" b="b" t="t" l="l"/>
            <a:pathLst>
              <a:path h="573873" w="619502">
                <a:moveTo>
                  <a:pt x="0" y="0"/>
                </a:moveTo>
                <a:lnTo>
                  <a:pt x="619502" y="0"/>
                </a:lnTo>
                <a:lnTo>
                  <a:pt x="619502" y="573873"/>
                </a:lnTo>
                <a:lnTo>
                  <a:pt x="0" y="573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227" y="9945336"/>
            <a:ext cx="619502" cy="573873"/>
          </a:xfrm>
          <a:custGeom>
            <a:avLst/>
            <a:gdLst/>
            <a:ahLst/>
            <a:cxnLst/>
            <a:rect r="r" b="b" t="t" l="l"/>
            <a:pathLst>
              <a:path h="573873" w="619502">
                <a:moveTo>
                  <a:pt x="0" y="0"/>
                </a:moveTo>
                <a:lnTo>
                  <a:pt x="619502" y="0"/>
                </a:lnTo>
                <a:lnTo>
                  <a:pt x="619502" y="573874"/>
                </a:lnTo>
                <a:lnTo>
                  <a:pt x="0" y="573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227" y="7526939"/>
            <a:ext cx="619502" cy="573873"/>
          </a:xfrm>
          <a:custGeom>
            <a:avLst/>
            <a:gdLst/>
            <a:ahLst/>
            <a:cxnLst/>
            <a:rect r="r" b="b" t="t" l="l"/>
            <a:pathLst>
              <a:path h="573873" w="619502">
                <a:moveTo>
                  <a:pt x="0" y="0"/>
                </a:moveTo>
                <a:lnTo>
                  <a:pt x="619502" y="0"/>
                </a:lnTo>
                <a:lnTo>
                  <a:pt x="619502" y="573873"/>
                </a:lnTo>
                <a:lnTo>
                  <a:pt x="0" y="573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09372" y="4038463"/>
            <a:ext cx="822960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Mattojen alla on liukuesteet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09372" y="5065194"/>
            <a:ext cx="822960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Matonkulmat eivät ole kääntyneet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09372" y="6105642"/>
            <a:ext cx="822960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Lattiat ovat mahdollisimman tasaiset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09372" y="8752639"/>
            <a:ext cx="822960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Yövalo on käytössä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09372" y="9840712"/>
            <a:ext cx="8229600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Taskulamppu on kätevästi saatavilla sähkökatkoksen varalle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09372" y="7127039"/>
            <a:ext cx="6317745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Eteisessä ja käytävillä on hyvä valaistus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466329" y="11211899"/>
            <a:ext cx="1998063" cy="1236302"/>
          </a:xfrm>
          <a:custGeom>
            <a:avLst/>
            <a:gdLst/>
            <a:ahLst/>
            <a:cxnLst/>
            <a:rect r="r" b="b" t="t" l="l"/>
            <a:pathLst>
              <a:path h="1236302" w="1998063">
                <a:moveTo>
                  <a:pt x="0" y="0"/>
                </a:moveTo>
                <a:lnTo>
                  <a:pt x="1998064" y="0"/>
                </a:lnTo>
                <a:lnTo>
                  <a:pt x="1998064" y="1236302"/>
                </a:lnTo>
                <a:lnTo>
                  <a:pt x="0" y="1236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35358" y="8754371"/>
            <a:ext cx="2403043" cy="3056629"/>
          </a:xfrm>
          <a:custGeom>
            <a:avLst/>
            <a:gdLst/>
            <a:ahLst/>
            <a:cxnLst/>
            <a:rect r="r" b="b" t="t" l="l"/>
            <a:pathLst>
              <a:path h="3056629" w="2403043">
                <a:moveTo>
                  <a:pt x="0" y="0"/>
                </a:moveTo>
                <a:lnTo>
                  <a:pt x="2403043" y="0"/>
                </a:lnTo>
                <a:lnTo>
                  <a:pt x="2403043" y="3056629"/>
                </a:lnTo>
                <a:lnTo>
                  <a:pt x="0" y="3056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080439"/>
            <a:ext cx="3682936" cy="3682936"/>
          </a:xfrm>
          <a:custGeom>
            <a:avLst/>
            <a:gdLst/>
            <a:ahLst/>
            <a:cxnLst/>
            <a:rect r="r" b="b" t="t" l="l"/>
            <a:pathLst>
              <a:path h="3682936" w="3682936">
                <a:moveTo>
                  <a:pt x="0" y="0"/>
                </a:moveTo>
                <a:lnTo>
                  <a:pt x="3682936" y="0"/>
                </a:lnTo>
                <a:lnTo>
                  <a:pt x="3682936" y="3682936"/>
                </a:lnTo>
                <a:lnTo>
                  <a:pt x="0" y="36829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8229600" cy="483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true">
                <a:solidFill>
                  <a:srgbClr val="115945"/>
                </a:solidFill>
                <a:latin typeface="Outfit 1 Bold"/>
                <a:ea typeface="Outfit 1 Bold"/>
                <a:cs typeface="Outfit 1 Bold"/>
                <a:sym typeface="Outfit 1 Bold"/>
              </a:rPr>
              <a:t>Yl</a:t>
            </a:r>
            <a:r>
              <a:rPr lang="en-US" sz="4599" b="true">
                <a:solidFill>
                  <a:srgbClr val="115945"/>
                </a:solidFill>
                <a:latin typeface="Outfit 1 Bold"/>
                <a:ea typeface="Outfit 1 Bold"/>
                <a:cs typeface="Outfit 1 Bold"/>
                <a:sym typeface="Outfit 1 Bold"/>
              </a:rPr>
              <a:t>i 100 suomalaista </a:t>
            </a:r>
            <a:r>
              <a:rPr lang="en-US" sz="459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päivässä saa aivovamman tai aivoverenkiertohäiriön.</a:t>
            </a:r>
          </a:p>
          <a:p>
            <a:pPr algn="l">
              <a:lnSpc>
                <a:spcPts val="6439"/>
              </a:lnSpc>
            </a:pPr>
          </a:p>
          <a:p>
            <a:pPr algn="l">
              <a:lnSpc>
                <a:spcPts val="6439"/>
              </a:lnSpc>
            </a:pPr>
            <a:r>
              <a:rPr lang="en-US" sz="459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Kukaan heistä ei saisi</a:t>
            </a:r>
          </a:p>
          <a:p>
            <a:pPr algn="l">
              <a:lnSpc>
                <a:spcPts val="6439"/>
              </a:lnSpc>
            </a:pPr>
            <a:r>
              <a:rPr lang="en-US" sz="4599" b="true">
                <a:solidFill>
                  <a:srgbClr val="115945"/>
                </a:solidFill>
                <a:latin typeface="Outfit 1 Medium"/>
                <a:ea typeface="Outfit 1 Medium"/>
                <a:cs typeface="Outfit 1 Medium"/>
                <a:sym typeface="Outfit 1 Medium"/>
              </a:rPr>
              <a:t>jäädä yksin.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733801"/>
            <a:ext cx="849193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15945"/>
                </a:solidFill>
                <a:latin typeface="Outfit 2 Semi-Bold"/>
                <a:ea typeface="Outfit 2 Semi-Bold"/>
                <a:cs typeface="Outfit 2 Semi-Bold"/>
                <a:sym typeface="Outfit 2 Semi-Bold"/>
              </a:rPr>
              <a:t>Lahjoita nyt!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3347" y="3381969"/>
            <a:ext cx="5720305" cy="8448081"/>
          </a:xfrm>
          <a:custGeom>
            <a:avLst/>
            <a:gdLst/>
            <a:ahLst/>
            <a:cxnLst/>
            <a:rect r="r" b="b" t="t" l="l"/>
            <a:pathLst>
              <a:path h="8448081" w="5720305">
                <a:moveTo>
                  <a:pt x="0" y="0"/>
                </a:moveTo>
                <a:lnTo>
                  <a:pt x="5720306" y="0"/>
                </a:lnTo>
                <a:lnTo>
                  <a:pt x="5720306" y="8448081"/>
                </a:lnTo>
                <a:lnTo>
                  <a:pt x="0" y="8448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38225"/>
            <a:ext cx="8229600" cy="166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2"/>
              </a:lnSpc>
            </a:pPr>
            <a:r>
              <a:rPr lang="en-US" sz="5600" b="true">
                <a:solidFill>
                  <a:srgbClr val="115945"/>
                </a:solidFill>
                <a:latin typeface="Outfit 2 Semi-Bold"/>
                <a:ea typeface="Outfit 2 Semi-Bold"/>
                <a:cs typeface="Outfit 2 Semi-Bold"/>
                <a:sym typeface="Outfit 2 Semi-Bold"/>
              </a:rPr>
              <a:t>Kuunteleminen </a:t>
            </a:r>
          </a:p>
          <a:p>
            <a:pPr algn="ctr">
              <a:lnSpc>
                <a:spcPts val="6552"/>
              </a:lnSpc>
            </a:pPr>
            <a:r>
              <a:rPr lang="en-US" sz="5600" b="true">
                <a:solidFill>
                  <a:srgbClr val="115945"/>
                </a:solidFill>
                <a:latin typeface="Outfit 2 Semi-Bold"/>
                <a:ea typeface="Outfit 2 Semi-Bold"/>
                <a:cs typeface="Outfit 2 Semi-Bold"/>
                <a:sym typeface="Outfit 2 Semi-Bold"/>
              </a:rPr>
              <a:t>kannattaa aina.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9781" y="1123950"/>
            <a:ext cx="6227438" cy="7713822"/>
          </a:xfrm>
          <a:custGeom>
            <a:avLst/>
            <a:gdLst/>
            <a:ahLst/>
            <a:cxnLst/>
            <a:rect r="r" b="b" t="t" l="l"/>
            <a:pathLst>
              <a:path h="7713822" w="6227438">
                <a:moveTo>
                  <a:pt x="0" y="0"/>
                </a:moveTo>
                <a:lnTo>
                  <a:pt x="6227438" y="0"/>
                </a:lnTo>
                <a:lnTo>
                  <a:pt x="6227438" y="7713822"/>
                </a:lnTo>
                <a:lnTo>
                  <a:pt x="0" y="7713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59732"/>
            <a:ext cx="8229600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115945"/>
                </a:solidFill>
                <a:latin typeface="Outfit 2 Semi-Bold"/>
                <a:ea typeface="Outfit 2 Semi-Bold"/>
                <a:cs typeface="Outfit 2 Semi-Bold"/>
                <a:sym typeface="Outfit 2 Semi-Bold"/>
              </a:rPr>
              <a:t>Kuunteleminen </a:t>
            </a:r>
          </a:p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115945"/>
                </a:solidFill>
                <a:latin typeface="Outfit 2 Semi-Bold"/>
                <a:ea typeface="Outfit 2 Semi-Bold"/>
                <a:cs typeface="Outfit 2 Semi-Bold"/>
                <a:sym typeface="Outfit 2 Semi-Bold"/>
              </a:rPr>
              <a:t>kannattaa aina.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59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947" y="4981024"/>
            <a:ext cx="9869107" cy="233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1"/>
              </a:lnSpc>
            </a:pPr>
            <a:r>
              <a:rPr lang="en-US" b="true" sz="6715">
                <a:solidFill>
                  <a:srgbClr val="FDE9E3"/>
                </a:solidFill>
                <a:latin typeface="Outfit 2 Semi-Bold"/>
                <a:ea typeface="Outfit 2 Semi-Bold"/>
                <a:cs typeface="Outfit 2 Semi-Bold"/>
                <a:sym typeface="Outfit 2 Semi-Bold"/>
              </a:rPr>
              <a:t>Kuunteleminen </a:t>
            </a:r>
          </a:p>
          <a:p>
            <a:pPr algn="ctr">
              <a:lnSpc>
                <a:spcPts val="9401"/>
              </a:lnSpc>
            </a:pPr>
            <a:r>
              <a:rPr lang="en-US" b="true" sz="6715">
                <a:solidFill>
                  <a:srgbClr val="FDE9E3"/>
                </a:solidFill>
                <a:latin typeface="Outfit 2 Semi-Bold"/>
                <a:ea typeface="Outfit 2 Semi-Bold"/>
                <a:cs typeface="Outfit 2 Semi-Bold"/>
                <a:sym typeface="Outfit 2 Semi-Bold"/>
              </a:rPr>
              <a:t>kannattaa aina.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464766" y="8703060"/>
            <a:ext cx="5357468" cy="2705521"/>
          </a:xfrm>
          <a:custGeom>
            <a:avLst/>
            <a:gdLst/>
            <a:ahLst/>
            <a:cxnLst/>
            <a:rect r="r" b="b" t="t" l="l"/>
            <a:pathLst>
              <a:path h="2705521" w="5357468">
                <a:moveTo>
                  <a:pt x="0" y="0"/>
                </a:moveTo>
                <a:lnTo>
                  <a:pt x="5357468" y="0"/>
                </a:lnTo>
                <a:lnTo>
                  <a:pt x="5357468" y="2705521"/>
                </a:lnTo>
                <a:lnTo>
                  <a:pt x="0" y="270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2464766" y="1217425"/>
            <a:ext cx="5357468" cy="2705521"/>
          </a:xfrm>
          <a:custGeom>
            <a:avLst/>
            <a:gdLst/>
            <a:ahLst/>
            <a:cxnLst/>
            <a:rect r="r" b="b" t="t" l="l"/>
            <a:pathLst>
              <a:path h="2705521" w="5357468">
                <a:moveTo>
                  <a:pt x="5357468" y="0"/>
                </a:moveTo>
                <a:lnTo>
                  <a:pt x="0" y="0"/>
                </a:lnTo>
                <a:lnTo>
                  <a:pt x="0" y="2705521"/>
                </a:lnTo>
                <a:lnTo>
                  <a:pt x="5357468" y="2705521"/>
                </a:lnTo>
                <a:lnTo>
                  <a:pt x="535746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0940" y="1552639"/>
            <a:ext cx="5145120" cy="4876736"/>
          </a:xfrm>
          <a:custGeom>
            <a:avLst/>
            <a:gdLst/>
            <a:ahLst/>
            <a:cxnLst/>
            <a:rect r="r" b="b" t="t" l="l"/>
            <a:pathLst>
              <a:path h="4876736" w="5145120">
                <a:moveTo>
                  <a:pt x="0" y="0"/>
                </a:moveTo>
                <a:lnTo>
                  <a:pt x="5145120" y="0"/>
                </a:lnTo>
                <a:lnTo>
                  <a:pt x="5145120" y="4876736"/>
                </a:lnTo>
                <a:lnTo>
                  <a:pt x="0" y="4876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216409"/>
            <a:ext cx="8229600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115945"/>
                </a:solidFill>
                <a:latin typeface="Outfit 2 Semi-Bold"/>
                <a:ea typeface="Outfit 2 Semi-Bold"/>
                <a:cs typeface="Outfit 2 Semi-Bold"/>
                <a:sym typeface="Outfit 2 Semi-Bold"/>
              </a:rPr>
              <a:t>Kuunteleminen </a:t>
            </a:r>
          </a:p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115945"/>
                </a:solidFill>
                <a:latin typeface="Outfit 2 Semi-Bold"/>
                <a:ea typeface="Outfit 2 Semi-Bold"/>
                <a:cs typeface="Outfit 2 Semi-Bold"/>
                <a:sym typeface="Outfit 2 Semi-Bold"/>
              </a:rPr>
              <a:t>kannattaa aina.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E8F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DAHHd6pO01k</dc:identifier>
  <dcterms:modified xsi:type="dcterms:W3CDTF">2011-08-01T06:04:30Z</dcterms:modified>
  <cp:revision>1</cp:revision>
  <dc:title>Kopio mallista Aivovammaliitto IG 4:3</dc:title>
</cp:coreProperties>
</file>